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28575">
              <a:solidFill>
                <a:srgbClr val="4267B2"/>
              </a:solidFill>
            </a:ln>
          </c:spPr>
          <c:marker>
            <c:spPr>
              <a:solidFill>
                <a:srgbClr val="4267B2"/>
              </a:solidFill>
              <a:ln>
                <a:solidFill>
                  <a:srgbClr val="4267B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460</c:v>
                </c:pt>
                <c:pt idx="2">
                  <c:v>440</c:v>
                </c:pt>
                <c:pt idx="3">
                  <c:v>465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>
              <a:solidFill>
                <a:srgbClr val="18978F"/>
              </a:solidFill>
            </a:ln>
          </c:spPr>
          <c:marker>
            <c:spPr>
              <a:solidFill>
                <a:srgbClr val="18978F"/>
              </a:solidFill>
              <a:ln>
                <a:solidFill>
                  <a:srgbClr val="18978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</c:v>
                </c:pt>
                <c:pt idx="1">
                  <c:v>350</c:v>
                </c:pt>
                <c:pt idx="2">
                  <c:v>330</c:v>
                </c:pt>
                <c:pt idx="3">
                  <c:v>345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28575">
              <a:solidFill>
                <a:srgbClr val="F1B33E"/>
              </a:solidFill>
            </a:ln>
          </c:spPr>
          <c:marker>
            <c:spPr>
              <a:solidFill>
                <a:srgbClr val="F1B33E"/>
              </a:solidFill>
              <a:ln>
                <a:solidFill>
                  <a:srgbClr val="F1B33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260</c:v>
                </c:pt>
                <c:pt idx="1">
                  <c:v>300</c:v>
                </c:pt>
                <c:pt idx="2">
                  <c:v>305</c:v>
                </c:pt>
                <c:pt idx="3">
                  <c:v>330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28575">
              <a:solidFill>
                <a:srgbClr val="C84141"/>
              </a:solidFill>
            </a:ln>
          </c:spPr>
          <c:marker>
            <c:spPr>
              <a:solidFill>
                <a:srgbClr val="C84141"/>
              </a:solidFill>
              <a:ln>
                <a:solidFill>
                  <a:srgbClr val="C8414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150</c:v>
                </c:pt>
                <c:pt idx="1">
                  <c:v>165</c:v>
                </c:pt>
                <c:pt idx="2">
                  <c:v>150</c:v>
                </c:pt>
                <c:pt idx="3">
                  <c:v>140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Revenue (USD 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28575">
              <a:solidFill>
                <a:srgbClr val="4267B2"/>
              </a:solidFill>
            </a:ln>
          </c:spPr>
          <c:marker>
            <c:spPr>
              <a:solidFill>
                <a:srgbClr val="4267B2"/>
              </a:solidFill>
              <a:ln>
                <a:solidFill>
                  <a:srgbClr val="4267B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54</c:v>
                </c:pt>
                <c:pt idx="2">
                  <c:v>53</c:v>
                </c:pt>
                <c:pt idx="3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>
              <a:solidFill>
                <a:srgbClr val="18978F"/>
              </a:solidFill>
            </a:ln>
          </c:spPr>
          <c:marker>
            <c:spPr>
              <a:solidFill>
                <a:srgbClr val="18978F"/>
              </a:solidFill>
              <a:ln>
                <a:solidFill>
                  <a:srgbClr val="18978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50</c:v>
                </c:pt>
                <c:pt idx="2">
                  <c:v>51</c:v>
                </c:pt>
                <c:pt idx="3">
                  <c:v>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28575">
              <a:solidFill>
                <a:srgbClr val="F1B33E"/>
              </a:solidFill>
            </a:ln>
          </c:spPr>
          <c:marker>
            <c:spPr>
              <a:solidFill>
                <a:srgbClr val="F1B33E"/>
              </a:solidFill>
              <a:ln>
                <a:solidFill>
                  <a:srgbClr val="F1B33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61</c:v>
                </c:pt>
                <c:pt idx="3">
                  <c:v>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28575">
              <a:solidFill>
                <a:srgbClr val="C84141"/>
              </a:solidFill>
            </a:ln>
          </c:spPr>
          <c:marker>
            <c:spPr>
              <a:solidFill>
                <a:srgbClr val="C84141"/>
              </a:solidFill>
              <a:ln>
                <a:solidFill>
                  <a:srgbClr val="C8414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38</c:v>
                </c:pt>
                <c:pt idx="1">
                  <c:v>35</c:v>
                </c:pt>
                <c:pt idx="2">
                  <c:v>32</c:v>
                </c:pt>
                <c:pt idx="3">
                  <c:v>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Net Promoter Score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ln w="28575">
              <a:solidFill>
                <a:srgbClr val="4267B2"/>
              </a:solidFill>
            </a:ln>
          </c:spPr>
          <c:marker>
            <c:spPr>
              <a:solidFill>
                <a:srgbClr val="4267B2"/>
              </a:solidFill>
              <a:ln>
                <a:solidFill>
                  <a:srgbClr val="4267B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5</c:v>
                </c:pt>
                <c:pt idx="2">
                  <c:v>4</c:v>
                </c:pt>
                <c:pt idx="3">
                  <c:v>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>
              <a:solidFill>
                <a:srgbClr val="18978F"/>
              </a:solidFill>
            </a:ln>
          </c:spPr>
          <c:marker>
            <c:spPr>
              <a:solidFill>
                <a:srgbClr val="18978F"/>
              </a:solidFill>
              <a:ln>
                <a:solidFill>
                  <a:srgbClr val="18978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4.5</c:v>
                </c:pt>
                <c:pt idx="2">
                  <c:v>4.2</c:v>
                </c:pt>
                <c:pt idx="3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ln w="28575">
              <a:solidFill>
                <a:srgbClr val="F1B33E"/>
              </a:solidFill>
            </a:ln>
          </c:spPr>
          <c:marker>
            <c:spPr>
              <a:solidFill>
                <a:srgbClr val="F1B33E"/>
              </a:solidFill>
              <a:ln>
                <a:solidFill>
                  <a:srgbClr val="F1B33E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7.5</c:v>
                </c:pt>
                <c:pt idx="2">
                  <c:v>8</c:v>
                </c:pt>
                <c:pt idx="3">
                  <c:v>8.5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ln w="28575">
              <a:solidFill>
                <a:srgbClr val="C84141"/>
              </a:solidFill>
            </a:ln>
          </c:spPr>
          <c:marker>
            <c:spPr>
              <a:solidFill>
                <a:srgbClr val="C84141"/>
              </a:solidFill>
              <a:ln>
                <a:solidFill>
                  <a:srgbClr val="C8414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10.5</c:v>
                </c:pt>
                <c:pt idx="2">
                  <c:v>11</c:v>
                </c:pt>
                <c:pt idx="3">
                  <c:v>12.5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Stockout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400" i="1">
                <a:solidFill>
                  <a:srgbClr val="CADCFC"/>
                </a:solidFill>
                <a:latin typeface="Aptos"/>
              </a:rPr>
              <a:t>Q2 2026 — Executive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$1,280M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Q2 Total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+4.5%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Quarter-over-Quarter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53.2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Unit-Weighted Customer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</a:rPr>
              <a:t>Q2 revenue reached $1,280M, up 4.5% from Q1. APAC is the growth leader, with revenue up 26.9% versus 2025-Q3, while Latin America declined 6.7%. The most urgent issue is Latin America, where NPS fell to 29, stockouts rose to 12.5%, and return processing reached 10 days. APAC growth remains attractive, but 92% warehouse utilization creates a near-term capacity constraint.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Picture 18" descr="growth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2400" b="1" i="0">
                <a:solidFill>
                  <a:srgbClr val="1E2761"/>
                </a:solidFill>
                <a:latin typeface="Aptos"/>
              </a:rPr>
              <a:t>APAC Accelerates While Latin America Contracts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sz="1400">
                <a:solidFill>
                  <a:srgbClr val="1E2761"/>
                </a:solidFill>
                <a:latin typeface="Aptos"/>
              </a:rPr>
              <a:t>• APAC revenue rose from $260M to $330M, a 26.9% increase.</a:t>
            </a:r>
            <a:endParaRPr lang="en-US" sz="1350" dirty="0"/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North America remains the largest market at $465M in Q2, with 1,120K units sold.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fell to $140M and 390K units, both below 2025-Q3.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return rate increased to 8.2%, more than double APAC’s 3.6%.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Picture 10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2300" b="1" i="0">
                <a:solidFill>
                  <a:srgbClr val="1E2761"/>
                </a:solidFill>
                <a:latin typeface="Aptos"/>
              </a:rPr>
              <a:t>Customer Experience Strengthens in APAC but Deteriorates in Latin America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sz="1400">
                <a:solidFill>
                  <a:srgbClr val="1E2761"/>
                </a:solidFill>
                <a:latin typeface="Aptos"/>
              </a:rPr>
              <a:t>• APAC leads Q2 customer experience with NPS 62, CSAT 92%, and 2.2-day delivery.</a:t>
            </a:r>
            <a:endParaRPr lang="en-US" sz="1350" dirty="0"/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Europe improved NPS from 48 to 53 while reducing delivery time to 3.2 days.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NPS dropped from 38 to 29, and CSAT declined to 74%.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support tickets climbed to 31K as delivery time reached 7.5 days.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Picture 10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54864" tIns="54864" rIns="54864" bIns="54864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2400" b="1" i="0">
                <a:solidFill>
                  <a:srgbClr val="1E2761"/>
                </a:solidFill>
                <a:latin typeface="Aptos"/>
              </a:rPr>
              <a:t>Latin America Risk Escalates as APAC Capacity Tightens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stockouts reached 12.5%, up from 9.0% in 2025-Q3.</a:t>
            </a:r>
            <a:endParaRPr lang="en-US" sz="1350" dirty="0"/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Latin America return processing lengthened to 10 days and fraud incidents rose to 30.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APAC warehouse utilization reached 92% while stockouts increased to 8.5%.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E2761"/>
                </a:solidFill>
                <a:latin typeface="Aptos"/>
              </a:rPr>
              <a:t>• North America and Europe remain comparatively stable, with Q2 stockout rates of 3.8% and 4.0%.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sz="1800">
                <a:solidFill>
                  <a:srgbClr val="FFFFFF"/>
                </a:solidFill>
                <a:latin typeface="Aptos"/>
              </a:rPr>
              <a:t>• STABILIZE Latin America fulfillment: set a weekly stockout-reduction plan focused on high-demand SKUs and supplier availability.</a:t>
            </a:r>
            <a:endParaRPr lang="en-US" sz="1600" dirty="0"/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REDESIGN Latin America returns and service operations: shorten the 10-day return cycle and address the drivers behind rising support tickets.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EXPAND APAC capacity before further growth: protect service levels as warehouse utilization reaches 92% and stockouts continue to rise.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SCALE the APAC playbook selectively: preserve customer experience while reallocating investment toward the strongest sustainable growth opportunities.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500" i="1">
                <a:solidFill>
                  <a:srgbClr val="CADCFC"/>
                </a:solidFill>
                <a:latin typeface="Aptos"/>
              </a:rPr>
              <a:t>Leadership priority: resolve Latin America’s operating breakdown while creating capacity for APAC’s next phase of growth.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